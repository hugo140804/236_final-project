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BLOCKCHAIN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E8A33D"/>
                </a:solidFill>
                <a:latin typeface="Calibri"/>
              </a:rPr>
              <a:t>SaaS REST API — Data via API Key, Autentikasi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>Express.js   •   PostgreSQL   •   Sequelize   •   Vercel</a:t>
            </a:r>
          </a:p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/>
            </a:r>
          </a:p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>Final Project 236 — [NAMA] — [NIM]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Latar Belakang &amp; Rumusan Masalah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Solusi &amp; Fitur Aplikasi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Teknologi yang Digunakan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Use Case &amp; User Flow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ERD / Rancangan Database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Endpoint API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Demo Aplikasi (Postman)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Hasil Pengujian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Deployment di Vercel</a:t>
            </a:r>
          </a:p>
          <a:p>
            <a:pPr>
              <a:spcAft>
                <a:spcPts val="1100"/>
              </a:spcAft>
            </a:pPr>
            <a:r>
              <a:rPr sz="2000">
                <a:solidFill>
                  <a:srgbClr val="1C1E21"/>
                </a:solidFill>
                <a:latin typeface="Calibri"/>
              </a:rPr>
              <a:t>▪ 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LATAR BELAKANG &amp; RUMUSAN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5395"/>
                </a:solidFill>
                <a:latin typeface="Calibri"/>
              </a:rPr>
              <a:t>Latar Belakang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Data blockchain semakin dibutuhkan aplikasi, namun belum tersedia dalam bentuk API siap pakai.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Layanan SaaS seperti OpenRouter / Weather API memberikan data lewat API key — pola inilah yang diadopsi.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Membangun REST API yang menyediakan data kepada pihak lain dengan API key +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5395"/>
                </a:solidFill>
                <a:latin typeface="Calibri"/>
              </a:rPr>
              <a:t>Rumusan 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Bagaimana membangun REST API SaaS berbasis API key?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Bagaimana mengamankan akses data dengan JWT dan API key?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Bagaimana menyediakan 50+ data kompleks dan men-deploy ke Vercel?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SOLUSI &amp; FITUR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Autentikasi JWT</a:t>
            </a:r>
            <a:r>
              <a:rPr sz="1800">
                <a:solidFill>
                  <a:srgbClr val="1C1E21"/>
                </a:solidFill>
                <a:latin typeface="Calibri"/>
              </a:rPr>
              <a:t> — login &amp; manajemen akun pengembang (password di-hash bcrypt).</a:t>
            </a:r>
          </a:p>
          <a:p>
            <a:pPr>
              <a:spcAft>
                <a:spcPts val="13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Sistem API Key</a:t>
            </a:r>
            <a:r>
              <a:rPr sz="1800">
                <a:solidFill>
                  <a:srgbClr val="1C1E21"/>
                </a:solidFill>
                <a:latin typeface="Calibri"/>
              </a:rPr>
              <a:t> — konsumen cukup mengirim header x-api-key untuk mengambil data.</a:t>
            </a:r>
          </a:p>
          <a:p>
            <a:pPr>
              <a:spcAft>
                <a:spcPts val="13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CRUD Data</a:t>
            </a:r>
            <a:r>
              <a:rPr sz="1800">
                <a:solidFill>
                  <a:srgbClr val="1C1E21"/>
                </a:solidFill>
                <a:latin typeface="Calibri"/>
              </a:rPr>
              <a:t> — blockchain &amp; kategori dengan relasi many-to-many.</a:t>
            </a:r>
          </a:p>
          <a:p>
            <a:pPr>
              <a:spcAft>
                <a:spcPts val="13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60 Data Blockchain</a:t>
            </a:r>
            <a:r>
              <a:rPr sz="1800">
                <a:solidFill>
                  <a:srgbClr val="1C1E21"/>
                </a:solidFill>
                <a:latin typeface="Calibri"/>
              </a:rPr>
              <a:t> — Bitcoin, Ethereum, Solana, Chainlink, dll. — melebihi minimal 50.</a:t>
            </a:r>
          </a:p>
          <a:p>
            <a:pPr>
              <a:spcAft>
                <a:spcPts val="13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13 Kategori</a:t>
            </a:r>
            <a:r>
              <a:rPr sz="1800">
                <a:solidFill>
                  <a:srgbClr val="1C1E21"/>
                </a:solidFill>
                <a:latin typeface="Calibri"/>
              </a:rPr>
              <a:t> — Layer 1, Layer 2, DeFi, NFT, Stablecoin, Meme, Oracle, dan lainnya.</a:t>
            </a:r>
          </a:p>
          <a:p>
            <a:pPr>
              <a:spcAft>
                <a:spcPts val="13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8 Pengembang</a:t>
            </a:r>
            <a:r>
              <a:rPr sz="1800">
                <a:solidFill>
                  <a:srgbClr val="1C1E21"/>
                </a:solidFill>
                <a:latin typeface="Calibri"/>
              </a:rPr>
              <a:t> — akun contoh untuk demo &amp; pengujian.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TEKNOLOGI YANG DIGUNAKAN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5544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Teknologi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Fungsi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Node.js + Express.js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Server REST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PostgreSQL / Supabase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Penyimpanan data (5 tabel)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Sequelize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Model, migration, seeder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Autentikasi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JWT + bcrypt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Login &amp; proteksi endpoint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API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crypto.randomBytes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Kunci akses konsumen (blk_...)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Vercel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Hosting serverless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23" y="1325880"/>
            <a:ext cx="32184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ACTIVITY DIAGRAM —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pic>
        <p:nvPicPr>
          <p:cNvPr id="8" name="Picture 7" descr="activity-user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64" y="1325880"/>
            <a:ext cx="2472566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82880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>Alur konsumen:</a:t>
            </a:r>
          </a:p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>1. Registrasi &amp; login JWT</a:t>
            </a:r>
          </a:p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>2. Buat API key</a:t>
            </a:r>
          </a:p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>3. Kirim GET + x-api-key</a:t>
            </a:r>
          </a:p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>4. Key valid → data JSON</a:t>
            </a:r>
          </a:p>
          <a:p>
            <a:pPr algn="l"/>
            <a:r>
              <a:rPr sz="1500" b="0">
                <a:solidFill>
                  <a:srgbClr val="1C1E21"/>
                </a:solidFill>
                <a:latin typeface="Calibri"/>
              </a:rPr>
              <a:t>5. Key tidak valid → 401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ENTITY RELATIONSHIP DIAGRAM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pic>
        <p:nvPicPr>
          <p:cNvPr id="8" name="Picture 7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132588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 TABEL &amp; RELASI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pengembang</a:t>
            </a:r>
            <a:r>
              <a:rPr sz="1700">
                <a:solidFill>
                  <a:srgbClr val="1C1E21"/>
                </a:solidFill>
                <a:latin typeface="Calibri"/>
              </a:rPr>
              <a:t> — id, nama, email, password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api_keys</a:t>
            </a:r>
            <a:r>
              <a:rPr sz="1700">
                <a:solidFill>
                  <a:srgbClr val="1C1E21"/>
                </a:solidFill>
                <a:latin typeface="Calibri"/>
              </a:rPr>
              <a:t> — id, pengembang_id, nama, key, aktif, terakhir_dipakai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blockchain</a:t>
            </a:r>
            <a:r>
              <a:rPr sz="1700">
                <a:solidFill>
                  <a:srgbClr val="1C1E21"/>
                </a:solidFill>
                <a:latin typeface="Calibri"/>
              </a:rPr>
              <a:t> — id, nama, simbol, deskripsi, tahun_rilis, pengembang_id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kategori</a:t>
            </a:r>
            <a:r>
              <a:rPr sz="1700">
                <a:solidFill>
                  <a:srgbClr val="1C1E21"/>
                </a:solidFill>
                <a:latin typeface="Calibri"/>
              </a:rPr>
              <a:t> — id, nama, deskripsi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BlockchainKategori</a:t>
            </a:r>
            <a:r>
              <a:rPr sz="1700">
                <a:solidFill>
                  <a:srgbClr val="1C1E21"/>
                </a:solidFill>
                <a:latin typeface="Calibri"/>
              </a:rPr>
              <a:t> — blockchain_id + kategori_id (tabel relasi many-to-many)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5395"/>
                </a:solidFill>
                <a:latin typeface="Calibri"/>
              </a:rPr>
              <a:t>Relasi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pengembang 1 — N blockchain (satu pengembang menulis banyak data)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pengembang 1 — N api_keys (satu pengembang punya banyak key)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▪ blockchain N — N kategori (lewat tabel BlockchainKategori)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ENDPOINT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48640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/api/register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/api/login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/api/apikey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/api/blockchain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API Key / JWT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/api/blockchain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/api/blockchain/:id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JWT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/api/blockchain/:id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/api/kategori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API Key / JWT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 / PUT / DELETE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/api/kategori...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APLIKASI (POSTMAN)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1. Register</a:t>
            </a:r>
            <a:r>
              <a:rPr sz="1700">
                <a:solidFill>
                  <a:srgbClr val="1C1E21"/>
                </a:solidFill>
                <a:latin typeface="Calibri"/>
              </a:rPr>
              <a:t> — POST /api/register → 201</a:t>
            </a:r>
          </a:p>
          <a:p>
            <a:pPr>
              <a:spcAft>
                <a:spcPts val="11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2. Login</a:t>
            </a:r>
            <a:r>
              <a:rPr sz="1700">
                <a:solidFill>
                  <a:srgbClr val="1C1E21"/>
                </a:solidFill>
                <a:latin typeface="Calibri"/>
              </a:rPr>
              <a:t> — POST /api/login → token JWT (auto-simpan)</a:t>
            </a:r>
          </a:p>
          <a:p>
            <a:pPr>
              <a:spcAft>
                <a:spcPts val="11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3. Cek akun</a:t>
            </a:r>
            <a:r>
              <a:rPr sz="1700">
                <a:solidFill>
                  <a:srgbClr val="1C1E21"/>
                </a:solidFill>
                <a:latin typeface="Calibri"/>
              </a:rPr>
              <a:t> — GET /api/me → id, nama, email</a:t>
            </a:r>
          </a:p>
          <a:p>
            <a:pPr>
              <a:spcAft>
                <a:spcPts val="11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4. Buat API key</a:t>
            </a:r>
            <a:r>
              <a:rPr sz="1700">
                <a:solidFill>
                  <a:srgbClr val="1C1E21"/>
                </a:solidFill>
                <a:latin typeface="Calibri"/>
              </a:rPr>
              <a:t> — POST /api/apikey → blk_xxxxxxxx</a:t>
            </a:r>
          </a:p>
          <a:p>
            <a:pPr>
              <a:spcAft>
                <a:spcPts val="11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5. Tambah data</a:t>
            </a:r>
            <a:r>
              <a:rPr sz="1700">
                <a:solidFill>
                  <a:srgbClr val="1C1E21"/>
                </a:solidFill>
                <a:latin typeface="Calibri"/>
              </a:rPr>
              <a:t> — POST /api/blockchain (nama, simbol, pengembang_id, kategori_ids)</a:t>
            </a:r>
          </a:p>
          <a:p>
            <a:pPr>
              <a:spcAft>
                <a:spcPts val="1100"/>
              </a:spcAft>
            </a:pPr>
            <a:r>
              <a:rPr b="1" sz="1700">
                <a:solidFill>
                  <a:srgbClr val="2E5395"/>
                </a:solidFill>
                <a:latin typeface="Calibri"/>
              </a:rPr>
              <a:t>▪ 6. Akses konsumen</a:t>
            </a:r>
            <a:r>
              <a:rPr sz="1700">
                <a:solidFill>
                  <a:srgbClr val="1C1E21"/>
                </a:solidFill>
                <a:latin typeface="Calibri"/>
              </a:rPr>
              <a:t> — GET /api/blockchain + header x-api-key → 200, data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HASIL PENGUJIAN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5544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Skenario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Hasil</a:t>
                      </a:r>
                    </a:p>
                  </a:txBody>
                  <a:tcPr anchor="ctr">
                    <a:solidFill>
                      <a:srgbClr val="2E539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Register pengembang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201 Created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Login (email &amp; password benar)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200 + token JWT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Akses data tanpa 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401 Unauthorized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Akses data dengan API key valid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200 + data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Akses data dengan API key salah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POST / PUT / DELETE dengan JWT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1E21"/>
                          </a:solidFill>
                          <a:latin typeface="Calibri"/>
                        </a:rPr>
                        <a:t>200 / 201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DEPLOYMENT DI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URL publik</a:t>
            </a:r>
            <a:r>
              <a:rPr sz="1800">
                <a:solidFill>
                  <a:srgbClr val="1C1E21"/>
                </a:solidFill>
                <a:latin typeface="Calibri"/>
              </a:rPr>
              <a:t> — https://236-final-project.vercel.app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Cara deploy</a:t>
            </a:r>
            <a:r>
              <a:rPr sz="1800">
                <a:solidFill>
                  <a:srgbClr val="1C1E21"/>
                </a:solidFill>
                <a:latin typeface="Calibri"/>
              </a:rPr>
              <a:t> — hubungkan repo GitHub ke Vercel → otomatis build &amp; deploy.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Environment variables</a:t>
            </a:r>
            <a:r>
              <a:rPr sz="1800">
                <a:solidFill>
                  <a:srgbClr val="1C1E21"/>
                </a:solidFill>
                <a:latin typeface="Calibri"/>
              </a:rPr>
              <a:t> — POSTGRES_URL, JWT_SECRET, JWT_EXPIRES.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Serverless</a:t>
            </a:r>
            <a:r>
              <a:rPr sz="1800">
                <a:solidFill>
                  <a:srgbClr val="1C1E21"/>
                </a:solidFill>
                <a:latin typeface="Calibri"/>
              </a:rPr>
              <a:t> — tanpa kelola server, auto-redeploy tiap push.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libri"/>
              </a:rPr>
              <a:t>Demo langsung di Postman dengan base URL Vercel di atas.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8A33D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Blockchain API — Final Project 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SaaS API berhasil</a:t>
            </a:r>
            <a:r>
              <a:rPr sz="1800">
                <a:solidFill>
                  <a:srgbClr val="1C1E21"/>
                </a:solidFill>
                <a:latin typeface="Calibri"/>
              </a:rPr>
              <a:t> — data disediakan ke konsumen lewat API key (register → login JWT → buat key → akses).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Keamanan ganda</a:t>
            </a:r>
            <a:r>
              <a:rPr sz="1800">
                <a:solidFill>
                  <a:srgbClr val="1C1E21"/>
                </a:solidFill>
                <a:latin typeface="Calibri"/>
              </a:rPr>
              <a:t> — JWT untuk pengelolaan, API key untuk konsumsi data.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60 data &amp; 5 tabel</a:t>
            </a:r>
            <a:r>
              <a:rPr sz="1800">
                <a:solidFill>
                  <a:srgbClr val="1C1E21"/>
                </a:solidFill>
                <a:latin typeface="Calibri"/>
              </a:rPr>
              <a:t> — relasi many-to-many — melebihi syarat minimal 50 data &amp; 2 tabel.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E5395"/>
                </a:solidFill>
                <a:latin typeface="Calibri"/>
              </a:rPr>
              <a:t>▪ Deploy di Vercel</a:t>
            </a:r>
            <a:r>
              <a:rPr sz="1800">
                <a:solidFill>
                  <a:srgbClr val="1C1E21"/>
                </a:solidFill>
                <a:latin typeface="Calibri"/>
              </a:rPr>
              <a:t> — dapat diakses publik di https://236-final-project.vercel.app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E8A33D"/>
                </a:solidFill>
                <a:latin typeface="Calibri"/>
              </a:rPr>
              <a:t>Sesi Tanya Jawab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2F5FA"/>
                </a:solidFill>
                <a:latin typeface="Calibri"/>
              </a:rPr>
              <a:t>Blockchain API — Final Project 236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Blockchain API - Final Project 236</dc:title>
  <dc:subject/>
  <dc:creator>236 Final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